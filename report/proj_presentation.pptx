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61" r:id="rId5"/>
    <p:sldId id="262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5849D7-A885-182A-6EA4-585D97DFAC7C}" v="8" dt="2026-01-17T11:02:41.3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55" autoAdjust="0"/>
    <p:restoredTop sz="94660"/>
  </p:normalViewPr>
  <p:slideViewPr>
    <p:cSldViewPr snapToGrid="0">
      <p:cViewPr>
        <p:scale>
          <a:sx n="122" d="100"/>
          <a:sy n="122" d="100"/>
        </p:scale>
        <p:origin x="-24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2735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443" y="1217413"/>
            <a:ext cx="9138558" cy="3563257"/>
          </a:xfrm>
        </p:spPr>
        <p:txBody>
          <a:bodyPr vert="horz" lIns="91440" tIns="45720" rIns="91440" bIns="45720" rtlCol="0" anchor="b">
            <a:noAutofit/>
          </a:bodyPr>
          <a:lstStyle/>
          <a:p>
            <a:br>
              <a:rPr lang="en-US" sz="6600" b="1" dirty="0">
                <a:latin typeface="Lato"/>
                <a:ea typeface="Lato"/>
                <a:cs typeface="Lato"/>
              </a:rPr>
            </a:br>
            <a:br>
              <a:rPr lang="en-US" sz="6600" b="1" dirty="0">
                <a:latin typeface="Lato"/>
                <a:ea typeface="Lato"/>
                <a:cs typeface="Lato"/>
              </a:rPr>
            </a:br>
            <a:br>
              <a:rPr lang="en-US" sz="6600" b="1" dirty="0">
                <a:latin typeface="Lato"/>
                <a:ea typeface="Lato"/>
                <a:cs typeface="Lato"/>
              </a:rPr>
            </a:br>
            <a:r>
              <a:rPr lang="en-US" sz="6600" b="1" dirty="0">
                <a:latin typeface="Lato"/>
                <a:ea typeface="Lato"/>
                <a:cs typeface="Lato"/>
              </a:rPr>
              <a:t>Analysis of Pollution Drivers in Lombardy</a:t>
            </a:r>
            <a:br>
              <a:rPr lang="en-US" sz="6600" b="1" dirty="0">
                <a:latin typeface="Lato"/>
                <a:ea typeface="Lato"/>
                <a:cs typeface="Lato"/>
              </a:rPr>
            </a:br>
            <a:endParaRPr lang="en-US" sz="96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6328" y="3972418"/>
            <a:ext cx="4544785" cy="1617662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sz="5800" b="1" dirty="0"/>
              <a:t>GRUPPO LUNA</a:t>
            </a:r>
          </a:p>
          <a:p>
            <a:r>
              <a:rPr lang="en-US" dirty="0"/>
              <a:t>MATTIA FRANCHINI</a:t>
            </a:r>
          </a:p>
          <a:p>
            <a:r>
              <a:rPr lang="en-US" dirty="0"/>
              <a:t>LINO MAZZOLENI</a:t>
            </a:r>
          </a:p>
          <a:p>
            <a:r>
              <a:rPr lang="en-US" dirty="0"/>
              <a:t>MICHELE BISIGNANO</a:t>
            </a:r>
          </a:p>
          <a:p>
            <a:r>
              <a:rPr lang="en-US" dirty="0"/>
              <a:t>FABIO GHISLANZONI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C43A3-2102-2A0B-55EA-C2092477C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07BA-4435-E932-0EC3-DCCE21DE3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3815" y="301827"/>
            <a:ext cx="12165980" cy="88537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b="1" dirty="0">
                <a:latin typeface="Lato"/>
                <a:ea typeface="Lato"/>
                <a:cs typeface="Lato"/>
              </a:rPr>
              <a:t>Data cleaning and selection</a:t>
            </a:r>
            <a:endParaRPr lang="en-US" sz="4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09D1A89-09BB-4911-2626-20E4A19E3C6E}"/>
              </a:ext>
            </a:extLst>
          </p:cNvPr>
          <p:cNvSpPr txBox="1"/>
          <p:nvPr/>
        </p:nvSpPr>
        <p:spPr>
          <a:xfrm>
            <a:off x="769433" y="1430348"/>
            <a:ext cx="103594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Target:</a:t>
            </a:r>
            <a:r>
              <a:rPr lang="it-IT" dirty="0"/>
              <a:t> PM10 (</a:t>
            </a:r>
            <a:r>
              <a:rPr lang="it-IT" i="1" dirty="0"/>
              <a:t>Dataset Agrimonia 2016-2021</a:t>
            </a:r>
            <a:r>
              <a:rPr lang="it-IT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Stazione:</a:t>
            </a:r>
            <a:r>
              <a:rPr lang="it-IT" dirty="0"/>
              <a:t> Saronno Via Santuario (massima completezza dati e ottimo per integrazione COVID)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Pulizia:</a:t>
            </a:r>
            <a:endParaRPr lang="it-IT" dirty="0"/>
          </a:p>
          <a:p>
            <a:pPr lvl="1"/>
            <a:r>
              <a:rPr lang="it-IT" dirty="0"/>
              <a:t>- </a:t>
            </a:r>
            <a:r>
              <a:rPr lang="it-IT" b="1" dirty="0"/>
              <a:t>Rimozione</a:t>
            </a:r>
            <a:r>
              <a:rPr lang="it-IT" dirty="0"/>
              <a:t> variabili statiche e stime di emissione.</a:t>
            </a:r>
          </a:p>
          <a:p>
            <a:pPr lvl="1"/>
            <a:r>
              <a:rPr lang="it-IT" dirty="0"/>
              <a:t>- </a:t>
            </a:r>
            <a:r>
              <a:rPr lang="it-IT" b="1" dirty="0"/>
              <a:t>Azzeramento</a:t>
            </a:r>
            <a:r>
              <a:rPr lang="it-IT" dirty="0"/>
              <a:t> valori COVID </a:t>
            </a:r>
            <a:r>
              <a:rPr lang="it-IT" dirty="0" err="1"/>
              <a:t>pre</a:t>
            </a:r>
            <a:r>
              <a:rPr lang="it-IT" dirty="0"/>
              <a:t>-pandemia.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Integrazione:</a:t>
            </a:r>
            <a:r>
              <a:rPr lang="it-IT" dirty="0"/>
              <a:t> Inserimento </a:t>
            </a:r>
            <a:r>
              <a:rPr lang="it-IT" i="1" dirty="0" err="1"/>
              <a:t>Stringency</a:t>
            </a:r>
            <a:r>
              <a:rPr lang="it-IT" i="1" dirty="0"/>
              <a:t> Index</a:t>
            </a:r>
            <a:r>
              <a:rPr lang="it-IT" dirty="0"/>
              <a:t> (</a:t>
            </a:r>
            <a:r>
              <a:rPr lang="it-IT" i="1" dirty="0" err="1"/>
              <a:t>OxCGRT</a:t>
            </a:r>
            <a:r>
              <a:rPr lang="it-IT" dirty="0"/>
              <a:t>).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2CFF77A-4F3E-D07B-8DFC-5EF1AC6D7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974" y="4039358"/>
            <a:ext cx="7772400" cy="200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26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F8F0E-C988-8109-B40B-26F7F8D7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AB8666B-2365-0DC1-DA4E-3FD325E29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4087" y="287934"/>
            <a:ext cx="6708515" cy="345785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 algn="l"/>
            <a:r>
              <a:rPr lang="en-US" sz="4400" b="1" dirty="0">
                <a:latin typeface=""/>
              </a:rPr>
              <a:t>Skewness &amp; Winds effects</a:t>
            </a:r>
            <a:endParaRPr lang="en-US" sz="3700" b="1" dirty="0">
              <a:latin typeface=""/>
            </a:endParaRPr>
          </a:p>
        </p:txBody>
      </p:sp>
      <p:pic>
        <p:nvPicPr>
          <p:cNvPr id="8" name="Picture 8" descr="Comparison of PM10 Distribution: Original vs Log-Transformed">
            <a:extLst>
              <a:ext uri="{FF2B5EF4-FFF2-40B4-BE49-F238E27FC236}">
                <a16:creationId xmlns:a16="http://schemas.microsoft.com/office/drawing/2014/main" id="{35ABA94B-951F-6066-3CCD-87119BAF4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50291" y="783638"/>
            <a:ext cx="4041516" cy="24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39D431F-BB00-0F04-C0B7-A2EB19C2D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497" y="783638"/>
            <a:ext cx="4508938" cy="2747837"/>
          </a:xfrm>
          <a:prstGeom prst="rect">
            <a:avLst/>
          </a:prstGeom>
        </p:spPr>
      </p:pic>
      <p:pic>
        <p:nvPicPr>
          <p:cNvPr id="10" name="Picture 14">
            <a:extLst>
              <a:ext uri="{FF2B5EF4-FFF2-40B4-BE49-F238E27FC236}">
                <a16:creationId xmlns:a16="http://schemas.microsoft.com/office/drawing/2014/main" id="{270913AB-7DE7-009E-E51A-AE5F843F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3428999"/>
            <a:ext cx="5137078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FBB6D27F-6E8A-F4E2-2558-B4D5EC8F0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95" y="3096613"/>
            <a:ext cx="5321150" cy="355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80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6E0F9F-6B2B-AD1E-8418-B1BF9D0F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2A8B9-56F0-28A2-CC1C-0E9AEB9AA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b="1" dirty="0">
                <a:latin typeface=""/>
                <a:ea typeface="Lato"/>
                <a:cs typeface="Lato"/>
              </a:rPr>
              <a:t>Correlation Analysis</a:t>
            </a:r>
            <a:endParaRPr lang="en-US" sz="4000" dirty="0">
              <a:latin typeface=""/>
            </a:endParaRPr>
          </a:p>
          <a:p>
            <a:endParaRPr lang="en-US" sz="5200" b="1" dirty="0">
              <a:latin typeface="Lato"/>
              <a:ea typeface="Lato"/>
              <a:cs typeface="Lato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6184EA1-AE36-9B73-C2FA-CCE6F46A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25" y="1303711"/>
            <a:ext cx="2785521" cy="3514855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830086B-5A12-02B4-3A8A-C7EE5B229C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8" r="12921"/>
          <a:stretch>
            <a:fillRect/>
          </a:stretch>
        </p:blipFill>
        <p:spPr>
          <a:xfrm>
            <a:off x="3855771" y="1171136"/>
            <a:ext cx="4477408" cy="500939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8989AE1-C913-A51C-2DEC-717BB661A6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92" r="11948"/>
          <a:stretch>
            <a:fillRect/>
          </a:stretch>
        </p:blipFill>
        <p:spPr>
          <a:xfrm>
            <a:off x="8333179" y="1541504"/>
            <a:ext cx="3598624" cy="377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77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B0E6B-7024-E98D-9D1E-10C6242EC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A606B-63E0-925B-901A-6C8D29C4A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31" y="169920"/>
            <a:ext cx="11824138" cy="2688893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b="1" dirty="0">
                <a:highlight>
                  <a:srgbClr val="FFFFFF"/>
                </a:highlight>
                <a:latin typeface=""/>
                <a:ea typeface="Lato"/>
                <a:cs typeface="Lato"/>
              </a:rPr>
              <a:t>Regression Modeling &amp; GLM Gamma Model</a:t>
            </a:r>
            <a:endParaRPr lang="en-US" sz="4000" dirty="0">
              <a:latin typeface=""/>
              <a:ea typeface="Lato"/>
              <a:cs typeface="Lato"/>
            </a:endParaRPr>
          </a:p>
          <a:p>
            <a:endParaRPr lang="en-US" sz="2300" b="1" dirty="0">
              <a:solidFill>
                <a:srgbClr val="2C3E50"/>
              </a:solidFill>
              <a:highlight>
                <a:srgbClr val="FFFFFF"/>
              </a:highlight>
              <a:latin typeface="Lato"/>
              <a:ea typeface="Lato"/>
              <a:cs typeface="Lato"/>
            </a:endParaRPr>
          </a:p>
          <a:p>
            <a:endParaRPr lang="en-US" sz="6600" b="1" dirty="0">
              <a:latin typeface="Lato"/>
              <a:ea typeface="Lato"/>
              <a:cs typeface="Lato"/>
            </a:endParaRPr>
          </a:p>
          <a:p>
            <a:endParaRPr lang="en-US" sz="6600" b="1" dirty="0">
              <a:latin typeface="Lato"/>
              <a:ea typeface="Lato"/>
              <a:cs typeface="Lato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302A6EA-BE8B-D7D2-DC92-8AC76FAD4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15" y="1063954"/>
            <a:ext cx="4720889" cy="2365046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816BEBFE-2663-55F0-5DE0-F0D840B31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04111"/>
            <a:ext cx="5812222" cy="4649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2EACE41A-912B-0865-FCBD-7F9EC03EE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20" y="3746938"/>
            <a:ext cx="4981484" cy="24955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A23541D-4EF5-D433-39BA-56370B2D420A}"/>
                  </a:ext>
                </a:extLst>
              </p:cNvPr>
              <p:cNvSpPr txBox="1"/>
              <p:nvPr/>
            </p:nvSpPr>
            <p:spPr>
              <a:xfrm>
                <a:off x="7287445" y="5959252"/>
                <a:ext cx="3429331" cy="5665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3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it-IT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it-IT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it-IT" sz="3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sz="3600" b="1" i="1" smtClean="0">
                          <a:latin typeface="Cambria Math" panose="02040503050406030204" pitchFamily="18" charset="0"/>
                        </a:rPr>
                        <m:t>𝟑𝟗𝟕</m:t>
                      </m:r>
                    </m:oMath>
                  </m:oMathPara>
                </a14:m>
                <a:endParaRPr lang="it-IT" sz="3600" b="1" i="1" dirty="0"/>
              </a:p>
            </p:txBody>
          </p:sp>
        </mc:Choice>
        <mc:Fallback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A23541D-4EF5-D433-39BA-56370B2D4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445" y="5959252"/>
                <a:ext cx="3429331" cy="566565"/>
              </a:xfrm>
              <a:prstGeom prst="rect">
                <a:avLst/>
              </a:prstGeom>
              <a:blipFill>
                <a:blip r:embed="rId5"/>
                <a:stretch>
                  <a:fillRect t="-2174" b="-434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7140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ACEA7-81D6-6CB7-FBD1-AA524EA7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15636-3579-2A29-02DF-B01DC478F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6728" y="0"/>
            <a:ext cx="5758544" cy="88537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b="1" dirty="0">
                <a:latin typeface="Lato"/>
                <a:ea typeface="Lato"/>
                <a:cs typeface="Lato"/>
              </a:rPr>
              <a:t>The Covid effect</a:t>
            </a:r>
            <a:endParaRPr lang="en-US" sz="4000" dirty="0"/>
          </a:p>
        </p:txBody>
      </p:sp>
      <p:pic>
        <p:nvPicPr>
          <p:cNvPr id="4098" name="Picture 2" descr="Temporal overlap of PM10 levels and Government Restrictions">
            <a:extLst>
              <a:ext uri="{FF2B5EF4-FFF2-40B4-BE49-F238E27FC236}">
                <a16:creationId xmlns:a16="http://schemas.microsoft.com/office/drawing/2014/main" id="{F9247D97-C2FB-11A6-9EB8-3C2D3CBBA1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46" t="6996"/>
          <a:stretch>
            <a:fillRect/>
          </a:stretch>
        </p:blipFill>
        <p:spPr bwMode="auto">
          <a:xfrm>
            <a:off x="1040525" y="1270028"/>
            <a:ext cx="4824248" cy="378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8278F18-2303-4DE7-16CB-15AD44706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228" y="1755227"/>
            <a:ext cx="5758544" cy="42941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ED628CC-6CA9-FFCA-3D87-68C3EA3B3C5A}"/>
                  </a:ext>
                </a:extLst>
              </p:cNvPr>
              <p:cNvSpPr txBox="1"/>
              <p:nvPr/>
            </p:nvSpPr>
            <p:spPr>
              <a:xfrm>
                <a:off x="1737983" y="5482797"/>
                <a:ext cx="3429331" cy="5665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3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it-IT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it-IT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it-IT" sz="3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sz="3600" b="1" i="1" smtClean="0">
                          <a:latin typeface="Cambria Math" panose="02040503050406030204" pitchFamily="18" charset="0"/>
                        </a:rPr>
                        <m:t>𝟒𝟑𝟐</m:t>
                      </m:r>
                    </m:oMath>
                  </m:oMathPara>
                </a14:m>
                <a:endParaRPr lang="it-IT" sz="3600" b="1" i="1" dirty="0"/>
              </a:p>
            </p:txBody>
          </p:sp>
        </mc:Choice>
        <mc:Fallback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ED628CC-6CA9-FFCA-3D87-68C3EA3B3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983" y="5482797"/>
                <a:ext cx="3429331" cy="566565"/>
              </a:xfrm>
              <a:prstGeom prst="rect">
                <a:avLst/>
              </a:prstGeom>
              <a:blipFill>
                <a:blip r:embed="rId4"/>
                <a:stretch>
                  <a:fillRect t="-2174" b="-65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901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B0CE4-962B-A986-E0C5-2EB939D4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B63C4-4BE0-D4DC-B1FA-AFCD774D1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6728" y="-88310"/>
            <a:ext cx="5758544" cy="88537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b="1" dirty="0">
                <a:latin typeface="Lato"/>
                <a:ea typeface="Lato"/>
                <a:cs typeface="Lato"/>
              </a:rPr>
              <a:t>PM10 vs No2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CC12B64-8EEA-1A05-04E3-FB80E227E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37" y="797062"/>
            <a:ext cx="5152926" cy="384252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CD8A2310-0C4C-A3C1-C9E6-D1F62356C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214" y="4754713"/>
            <a:ext cx="9221572" cy="154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16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100</Words>
  <Application>Microsoft Macintosh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Lato</vt:lpstr>
      <vt:lpstr>office theme</vt:lpstr>
      <vt:lpstr>   Analysis of Pollution Drivers in Lombardy </vt:lpstr>
      <vt:lpstr>Data cleaning and selection</vt:lpstr>
      <vt:lpstr>Skewness &amp; Winds effects</vt:lpstr>
      <vt:lpstr>Correlation Analysis </vt:lpstr>
      <vt:lpstr>Regression Modeling &amp; GLM Gamma Model   </vt:lpstr>
      <vt:lpstr>The Covid effect</vt:lpstr>
      <vt:lpstr>PM10 vs No2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MATTIA FRANCHINI</cp:lastModifiedBy>
  <cp:revision>67</cp:revision>
  <dcterms:created xsi:type="dcterms:W3CDTF">2026-01-13T07:25:15Z</dcterms:created>
  <dcterms:modified xsi:type="dcterms:W3CDTF">2026-01-17T11:56:42Z</dcterms:modified>
</cp:coreProperties>
</file>